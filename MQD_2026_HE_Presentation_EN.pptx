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37744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000"/>
              </a:lnSpc>
              <a:defRPr sz="1800" b="0">
                <a:solidFill>
                  <a:srgbClr val="F5A623"/>
                </a:solidFill>
                <a:latin typeface="Calibri"/>
              </a:defRPr>
            </a:pPr>
            <a:r>
              <a:t>Mastercard Data Quest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6984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5000"/>
              </a:lnSpc>
              <a:defRPr sz="4400" b="1">
                <a:solidFill>
                  <a:srgbClr val="FFFFFF"/>
                </a:solidFill>
                <a:latin typeface="Calibri"/>
              </a:defRPr>
            </a:pPr>
            <a:r>
              <a:t>Hidden Entrepreneur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698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800"/>
              </a:lnSpc>
              <a:defRPr sz="1600" b="0">
                <a:solidFill>
                  <a:srgbClr val="BBCCDD"/>
                </a:solidFill>
                <a:latin typeface="Calibri"/>
              </a:defRPr>
            </a:pPr>
            <a:r>
              <a:t>10 Behavioral Paradoxes · Cross-border Sourcing · AUC-ROC · Target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300"/>
              </a:lnSpc>
              <a:defRPr sz="2000" b="1">
                <a:solidFill>
                  <a:srgbClr val="FFFFFF"/>
                </a:solidFill>
                <a:latin typeface="Calibri"/>
              </a:defRPr>
            </a:pPr>
            <a:r>
              <a:t>Genius Level — Complete solution with step-by-step explanations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600"/>
              </a:lnSpc>
              <a:defRPr sz="1400" b="0">
                <a:solidFill>
                  <a:srgbClr val="99AABB"/>
                </a:solidFill>
                <a:latin typeface="Calibri"/>
              </a:defRPr>
            </a:pPr>
            <a:r>
              <a:t>Team MQD_2026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Complete breakdown — 31 slides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97280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1.  Problem Statement — what are we solving and why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2.  Data — sources, sizes, structure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3.  Loading + concat + merge — simple explanation with example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4.  Label — what is it and why?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5.  MCC Categories — business, wholesale, logistics, fuel, SaaS/Ads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6.  Behavioral Paradoxes — 10 + cross-border: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  6a. Clockwork Buyer        6b. Off-Hours Operator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  6c. Expense Ratio Inversion    6d. Token Wholesale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  6e. Baseline Aggregations       6f. Supplier Fingerprint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  6g. Last-Mile Echo              6h. Round-Trip Cash Flow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  6i. Inventory Pulse             6j. Multi-Vendor Loyalty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  6k. Channel Schizophrenia       6l. Cross-border Sourcing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7.  Feature Assembly — 35 features, fillna, dropna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8.  CatBoost — why this model, training, parameters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9.  5-Fold Cross-Validation — stability check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10. Results — AUC 1.0, Confusion Matrix, where numbers come from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11. Feature Importance — top-15, what each means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12. SHAP — explaining every prediction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13. Top-100 Hidden Entrepreneurs + Target Product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14. Columns we DON'T use and why (comparison)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15. Technical problems — merge_asof, Round-Trip, pandas 3.0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16. Conclusions — what we achieved, what matters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What we are solving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685800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📌 The Problem (simple terms):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We have 80,000 consumer cards (ordinary people).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But SOME owners use them for BUSINESS — buying goods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wholesale, paying for ads, hiring delivery.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The bank can't see this — the card is 'personal'.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Task: find these 'hidden entrepreneurs'.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📌 What we are given: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• 3 million transactions from KNOWN business cards (ground truth)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• 9.8 million transactions from consumer cards (search here)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• Merchant reference directory — who is who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📌 Why AUC-ROC instead of Accuracy?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• If we say 'everyone is consumer', Accuracy = 76%,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  but we find nobody. Accuracy is a bad metric.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• AUC-ROC = how well the model DISTINGUISHES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  business from consumer. 1.0 = perfect.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📌 What are 'Behavioral Paradoxes'?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They are 10 BEHAVIOR PATTERNS that exist in business cards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but are almost absent in consumer cards. If a consumer card</a:t>
            </a:r>
          </a:p>
          <a:p>
            <a:pPr algn="l">
              <a:lnSpc>
                <a:spcPts val="2000"/>
              </a:lnSpc>
              <a:defRPr sz="1600">
                <a:solidFill>
                  <a:srgbClr val="333333"/>
                </a:solidFill>
                <a:latin typeface="Calibri"/>
              </a:defRPr>
            </a:pPr>
            <a:r>
              <a:t>behaves like a business card — it's a 'hidden entrepreneur'.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280160"/>
            <a:ext cx="4114800" cy="530352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80" y="1371600"/>
            <a:ext cx="3840480" cy="5120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🎯 IN SIMPLE TERMS: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Imagine: you see a person in a store.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They buy 1 loaf of bread → consumer.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They buy 100 boxes of cookies → businessperson.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But what if they bought 100 boxes of cookies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with a personal card? The bank only sees: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'Card X spent 50,000 KZT at a supermarket'.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Our model looks NOT at the amount,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but at PATTERNS: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Do they buy regularly?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Outside working hours?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Wholesale or retail?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Do they switch channels?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Do they pay abroad?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10 paradoxes = 10 different views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on a card's behavior.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 — sources, sizes,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3 parquet files, 12.8M rows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9436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📁 business_cards_MDQ.parquet — 2,997,593 rows, 25,000 cards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Known business cards. label = 1 (ground truth)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📁 consumer_cards_MDQ.parquet — 9,832,487 rows, 80,000 cards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Consumer cards. label = 0 (search here)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📁 merchants_reference.parquet — 2,165 merchant directory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📊 Total: 12,830,080 rows, 105,000 unique cards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📊 Class balance: 76% consumer vs 24% business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280160"/>
            <a:ext cx="512064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93408" y="1353312"/>
            <a:ext cx="4901184" cy="186537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# Read only the columns we need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BIZ_COLS = ["transaction_date","transaction_timestamp",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            "transaction_amount_kzt","mcc","merchant_id",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            "channel","card_number","tokenized",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            "is_recurring","country"]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biz = pd.read_parquet("business_cards_MDQ.parquet",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                      columns=BIZ_COLS)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con = pd.read_parquet("consumer_cards_MDQ.parquet",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                      columns=CON_COLS)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# Merchant directory (all columns)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bus = pd.read_parquet("merchants_reference.parquet")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11247120" cy="30175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566160"/>
            <a:ext cx="10972800" cy="2834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💡 IN SIMPLE TERMS: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What is pd.read_parquet? It's like opening an Excel file, but much faster.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Parquet is a columnar storage format — more efficient than CSV.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We read ONLY the columns we need (columns=...) to save memory.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Each row = 1 transaction. One card can have from 1 to 10,000+ transactions.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There are FEWER business cards (25,000), but they are more active — 3M transactions.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There are MORE consumer cards (80,000), but each does fewer transactions — 9.8M.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IMPORTANT: business_cards contains transactions from KNOWN business cards.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consumer_cards contains transactions from ordinary people.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BUT some of them are hidden entrepreneurs (they just got a personal card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and use it for business).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Concatenation — merging 2 tables into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pd.concat in simple words + data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4389120" cy="5029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53312"/>
            <a:ext cx="4169664" cy="488289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# STEP 1: assign labels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biz["label"] = 1  # business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con["label"] = 0  # consumer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# STEP 2: pick only needed columns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cols = BIZ_COLS + ["label"]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biz_subset = biz[cols]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con_subset = con[cols]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# STEP 3: concatenate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df = pd.concat([biz_subset, con_subset],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               ignore_index=True)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print(f"Total rows: {len(df):,}")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print(f"label=1 (biz): {(df['label']==1).sum():,}")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print(f"label=0 (con): {(df['label']==0).sum():,}")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# STEP 4: merge merchant info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df = df.merge(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    bus[["merchant_id","mcc","merchant_country",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         "recurring_capable","merchant_name"]],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    on=["merchant_id","mcc"], how="left"</a:t>
            </a:r>
          </a:p>
          <a:p>
            <a:pPr>
              <a:lnSpc>
                <a:spcPts val="1170"/>
              </a:lnSpc>
              <a:defRPr sz="900">
                <a:solidFill>
                  <a:srgbClr val="CDD9E0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280160"/>
            <a:ext cx="6675120" cy="21031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371600"/>
            <a:ext cx="640080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🧩 IN SIMPLE TERMS: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pd.concat = glue two tables together, one on top of the other.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We had 2 separate files: business and consumer.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We place one ABOVE the other — we get one big table.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ignore_index=True = reset old indices, create new 0,1,2,...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label = 1 — 'this is a business card'. label = 0 — 'this is a consumer card'.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The model will learn: what features distinguish label=1 from label=0.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Then it will look at consumer cards and say: 'this one looks like business'.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3566160"/>
            <a:ext cx="3291840" cy="274320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3639312"/>
            <a:ext cx="3108960" cy="2596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BEFORE: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biz (first 3 rows):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card_number         | mcc  | amount | label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5200000000000001   | 7311 | 150000 |   1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5200000000000001   | 4214 | 45000  |   1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5200000000000002   | 5021 | 89000  |   1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con (first 3 rows):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card_number         | mcc  | amount | label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4100000000000001   | 5812 | 3500   |   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4100000000000001   | 5812 | 1200   |   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4100000000000002   | 5411 | 8900   |  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3566160"/>
            <a:ext cx="3291840" cy="2743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3639312"/>
            <a:ext cx="3108960" cy="2596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AFTER: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df AFTER concat (first 6 rows):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card_number         | mcc  | amount | label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5200000000000001   | 7311 | 150000 |   1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5200000000000001   | 4214 | 45000  |   1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5200000000000002   | 5021 | 89000  |   1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4100000000000001   | 5812 | 3500   |   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4100000000000001   | 5812 | 1200   |   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4100000000000002   | 5411 | 8900   |   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Total: 12,830,080 rows!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Now all data is in one place.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MCC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Classifying transactions: business, wholesale, logistics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029200" cy="5029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53312"/>
            <a:ext cx="4809744" cy="488289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BUSINESS TRANSACTIONS (everything for business)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BUSINESS_MCCS = {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"7311","7372","5968","4816","4812","4814",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"7379","5734","7392","7399","8931","8111",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"8911","7361","5021","5044","5045","5046",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"5111","5943","5099","5199","5131","5137",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"5139","5169","5172","5193","5039","5065",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"5072","5085","5211","5231","4214","4215",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"4225","4011","4511","7011","4722","4723",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"7394","7512","6381","7321","7333","7338",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"7298","7299","5199","5261","5122","5200",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WHOLESALE PRODUCT PURCHASES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WHOLESALE_PROD_MCCS = {"5021","5039","5044","5045",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"5046","5065","5072","5085","5099","5111",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"5122","5131","5137","5139","5169","5172",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"5193","5199","5200","5211","5231",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LOGISTICS + FUEL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LOGISTICS_MCCS = {"4214","4215","4225","4011"}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FUEL_MCCS     = {"5541","5542","5983"}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SAAS / ADVERTISING (for cross-border)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SAAS_AD_MCCS  = {"7311","7372","5968","4816",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         "7379","5734"}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280160"/>
            <a:ext cx="6035040" cy="25603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371600"/>
            <a:ext cx="576072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🏷️ IN SIMPLE TERMS: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MCC = Merchant Category Code — a code identifying the type of store.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It's like 'departments in a supermarket': 7311 = advertising,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4214 = freight, 5812 = restaurant, 5411 = grocery.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We split all MCCs into 4 groups: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🏢 BUSINESS_MCCS — everything a business needs (ads,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IT, telecom, wholesale, logistics, legal, hotels)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📦 WHOLESALE — wholesale goods (building materials,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electronics, furniture, industrial equipment)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🚚 LOGISTICS — freight, warehouses, railway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⛽ FUEL — vehicle fuel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💻 SAAS_AD — software, ads, cloud (for cross-border)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WHY? To calculate features separately for each group.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For example: 'wholesale spend ratio' = WHOLESALE spend / total spend.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4114800"/>
            <a:ext cx="6035040" cy="2194560"/>
          </a:xfrm>
          <a:prstGeom prst="rect">
            <a:avLst/>
          </a:prstGeom>
          <a:solidFill>
            <a:srgbClr val="FFF8E1"/>
          </a:solidFill>
          <a:ln w="12700">
            <a:solidFill>
              <a:srgbClr val="F3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4187952"/>
            <a:ext cx="5852160" cy="20482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🧮 CALCULATION WALKTHROUGH: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Example: transaction with MCC=5021 (building materials)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Check: is 5021 in WHOLESALE_PROD_MCCS? → YES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So this is a wholesale purchase. Count in wholesale_spend.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If MCC=7311 (ads) AND merchant country ≠ card country: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→ this is a cross-border SaaS/Ads transaction.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Count in cb_saas_ad_count.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If MCC=5812 (restaurant):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→ this is a consumer transaction. Not counted in paradox features.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Clockwork Buyer — Purchase Regularity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Paradox 1: Entrepreneurs buy like clockwork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Sort by (card, MCC, time)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df.sort_values(["card_number","mcc",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"transaction_timestamp"], inplace=True)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Calculate interval between purchases of same MCC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df["interval_hours"] = df.groupby(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["card_number","mcc"]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)["transaction_timestamp"].diff().dt.total_seconds() / 3600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CV = std/mean for each (card, MCC) pair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cv_per = df.dropna(subset=["interval_hours"]).groupby(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["card_number","mcc"]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)["interval_hours"].agg(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lambda x: x.std()/x.mean() if x.mean()&gt;1e-9 else np.nan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).rename("cv").reset_index()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Average CV across all MCCs for each card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clockwork_cv_mean = cv_per.groupby(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"card_number")["cv"].mean()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How many MCCs have non-zero CV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clockwork_mcc_count = cv_per.dropna(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subset=["cv"]).groupby("card_number")["cv"].count()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400800" cy="34747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25880"/>
            <a:ext cx="61264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💡 IN SIMPLE TERMS: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IDEA: An entrepreneur orders goods every Monday.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A consumer visits stores 'whenever they feel like'.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We measure: HOW REGULAR are the intervals between purchases.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HOW WE CALCULATE (example):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Card X bought office supplies (MCC=5111):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Jan 1 → Jan 8 → Jan 15 → Jan 22 (every week)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Intervals: 7, 7, 7 days. CV = 0/7 = 0 → PERFECT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Card Y bought office supplies: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Jan 1 → Feb 3 → Mar 10 → Apr 5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Intervals: 33, 35, 26 days. CV = 4.7/31 = 0.15 → still regular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Card Z: Jan 1 → Mar 20 → Apr 2 → Dec 15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Intervals: 78, 13, 257 days. CV = large → CHAOTIC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Lower CV → more regular purchasing → entrepreneur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Higher CV → chaotic purchasing → consumer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4846320"/>
            <a:ext cx="3154680" cy="173736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BEFORE: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4846320"/>
            <a:ext cx="315468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AFTER: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RESULTING FEATURES (per card):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card_number  | clockwork_cv_mean | clockwork_mcc_count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5200000001  | 0.05             | 8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5200000002  | 0.12             | 5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4100000001  | 0.89             | 2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4100000002  | 1.45             | 1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Business (5200...): low CV (0.05-0.12), many MCCs (5-8)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Consumer (4100...): high CV (0.89-1.45), few MCCs (1-2)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Off-Hours Operator — Purchases outside 9-18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Paradox 2: Business doesn't sleep before 9am and after 7pm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Extract hour from timestamp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df["txn_hour"] = df["transaction_timestamp"].dt.hour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Define off-hours (before 9 or after 19)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df["is_off_hours"] = (df["txn_hour"] &lt; 9) |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              (df["txn_hour"] &gt;= 19)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Count business transactions during off-hours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off_hours_biz = df[df["is_business_mcc"] &amp;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df["is_off_hours"]].groupby("card_number").size()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All business transactions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biz_mcc_txns = df[df["is_business_mcc"]]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.groupby("card_number").size()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Share of off-hours among business transactions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off_hours_ratio = (off_hours_biz / biz_mcc_txns)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.rename("off_hours_ratio").fillna(0.0)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Total transactions during off-hours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off_hours_total = df[df["is_off_hours"]]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.groupby("card_number").size()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.rename("off_hours_total_count")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400800" cy="34747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25880"/>
            <a:ext cx="61264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💡 IN SIMPLE TERMS: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IDEA: Entrepreneurs order goods outside working hours —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early morning (6-8am), late evening (8-11pm), weekends.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Consumers shop during the day (12-6pm).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HOW WE CALCULATE (example):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From each transaction we extract the HOUR (0-23):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transaction_timestamp = '2026-01-15 07:30:00' → hour = 7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Hour &lt; 9 or &gt;= 19? 7 &lt; 9 → YES → off_hours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Card A (business): 100 business transactions,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70 of them during off-hours. off_hours_ratio = 70/100 = 0.70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Makes sense: store owner orders goods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in the morning before opening.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Card B (consumer): 50 business transactions,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5 during off-hours. off_hours_ratio = 5/50 = 0.10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Consumer occasionally pays for a subscription at night.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4846320"/>
            <a:ext cx="3154680" cy="173736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BEFORE: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4846320"/>
            <a:ext cx="315468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AFTER: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CALCULATION EXAMPLE for card 4100000001: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Transactions (with hour):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txn_1: 2026-01-15 07:30 → hour=7 → off_hours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txn_2: 2026-01-15 14:20 → hour=14 → NOT off_hours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txn_3: 2026-01-16 21:15 → hour=21 → off_hours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txn_4: 2026-01-17 08:45 → hour=8 → off_hours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txn_5: 2026-01-18 12:00 → hour=12 → NOT off_hours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off_hours_ratio = 3/5 = 0.60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total_txns = 5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overall_off_hours_ratio = 3/5 = 0.60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Expense Ratio Inversion — Expense Inversion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Paradox 3: Entrepreneurs spend more on goods than on themselves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Total spend per card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total_spend = df.groupby("card_number")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["transaction_amount_kzt"].sum()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.rename("total_spend_kzt")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Wholesale spend per card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wholesale_spend = df[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df["mcc"].isin(WHOLESALE_PROD_MCCS)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].groupby("card_number")[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"transaction_amount_kzt"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].sum().rename("wholesale_spend_kzt")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Wholesale share of total spend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wholesale_spend_ratio = 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wholesale_spend / total_spend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).rename("wholesale_spend_ratio").fillna(0.0)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Log of wholesale spend (smoothing)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wholesale_spend_log = np.log1p(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wholesale_spend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).rename("wholesale_spend_log")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400800" cy="34747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25880"/>
            <a:ext cx="61264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💡 IN SIMPLE TERMS: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IDEA: A consumer spends 90% on food, clothes, entertainment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(MCC: 5411, 5812, 5651, 7841...). Only 10% on 'business'.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An entrepreneur does the opposite: 60-80% of spending is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wholesale purchases of goods (MCC: 5021, 5044, 5111...).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HOW WE CALCULATE (example):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Card A (business): total spent 5,000,000 KZT.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Of that, on wholesale MCCs: 3,500,000 KZT.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wholesale_spend_ratio = 3.5M/5M = 0.70 (70%)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Card B (consumer): total spent 500,000 KZT.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Of that, on wholesale MCCs: 20,000 KZT.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wholesale_spend_ratio = 20K/500K = 0.04 (4%)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Higher ratio → more resembles an entrepreneur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4846320"/>
            <a:ext cx="3154680" cy="173736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BEFORE: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4846320"/>
            <a:ext cx="315468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AFTER: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EXAMPLE: why log1p?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Card A spent 10,000,000 KZT wholesale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Card B spent 50,000 KZT wholesale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That's a 200x difference!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log1p(10M) = 16.1, log1p(50K) = 10.8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Only 1.5x difference → the model won't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be overwhelmed by millionaires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Token Wholesale — Tokenized Wholesale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Paradox 4: Large wholesale via Apple/Google Pay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Filter: wholesale + tokenized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token_wholesale = df[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df["mcc"].isin(WHOLESALE_PROD_MCCS)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&amp; (df["tokenized"] == True)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].copy()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90th percentile of business cards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biz_token = token_wholesale[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token_wholesale["label"] == 1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p90 = biz_token["transaction_amount_kzt"]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.quantile(0.90)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Flag: does the card have any such transaction?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token_wholesale_flag = 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token_wholesale[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token_wholesale["transaction_amount_kzt"] &gt; p90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].groupby("card_number").size().gt(0)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.astype(int).rename("token_wholesale_flag")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Count: how many such transactions?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token_wholesale_count = 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token_wholesale[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token_wholesale["transaction_amount_kzt"] &gt; p90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].groupby("card_number").size()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.rename("token_wholesale_count")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400800" cy="34747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25880"/>
            <a:ext cx="61264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💡 IN SIMPLE TERMS: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IDEA: Entrepreneurs pay suppliers via token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(Apple Pay, Google Pay, Samsung Pay) — fast and convenient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for frequent purchases. Consumers mostly tokenize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small everyday transactions.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HOW WE CALCULATE: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1) Take ONLY wholesale MCCs + tokenized = True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2) Among business cards, find the 90th percentile amount: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(90% of business transactions are BELOW this amount)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= 470,088 KZT ≈ $1,150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3) If a consumer card has a wholesale tokenized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transaction ABOVE this threshold → hidden entrepreneur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WHY THE 90TH PERCENTILE?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It represents a 'very large purchase' that an ordinary person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wouldn't make with a token. But an entrepreneur would (restocking).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4846320"/>
            <a:ext cx="3154680" cy="173736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BEFORE: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4846320"/>
            <a:ext cx="315468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AFTER: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Example: consumer card 4100000001: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Wholesale transaction 500,000 KZT, tokenized=True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500K &gt; 470K (business 90th percentile)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→ token_wholesale_flag = 1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→ LIKELY A HIDDEN ENTREPRENEUR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Example: consumer card 4100000002: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No wholesale tokenized transactions at all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→ token_wholesale_flag = 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→ ordinary consumer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Baseline Aggregations — Basic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The most important features (tokenized_ratio = 26% importance!)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card_agg = df.groupby("card_number").agg(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amount_mean=("transaction_amount_kzt","mean"),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amount_std =("transaction_amount_kzt","std"),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amount_sum =("transaction_amount_kzt","sum"),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amount_max =("transaction_amount_kzt","max"),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n_unique_mcc=("mcc","nunique"),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n_unique_merchants=("merchant_id","nunique"),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n_online=("channel",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      lambda x:(x=="online").sum()),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n_pos=("channel",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   lambda x:(x=="POS").sum()),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tokenized_txn_count=("tokenized","sum"),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recurring_count=("is_recurring","sum"),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Share of online transactions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card_agg["online_ratio"] = card_agg["n_online"] / 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card_agg["n_online"] + card_agg["n_pos"]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Share of tokenized transactions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card_agg["tokenized_ratio"] = 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card_agg["tokenized_txn_count"] / total_txns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Log of MCC count (smoothing)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card_agg["n_unique_mcc_log"] = np.log1p(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card_agg["n_unique_mcc"]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400800" cy="34747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25880"/>
            <a:ext cx="61264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💡 IN SIMPLE TERMS: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IDEA: Beyond smart paradoxes, we need basic data: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Total number of transactions?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Average/Max amount?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How many different stores? MCCs?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Online vs POS ratio?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Share of tokenized payments?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THESE FEATURES TURNED OUT TO BE THE MOST IMPORTANT: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tokenized_ratio (26.3%) — business cards pay almost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everything via token. Consumer — cash/card.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online_ratio (20.3%) — business orders online,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consumer goes to the store.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TOGETHER = 46.6% of ALL model importance!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Paradoxes complement, but baseline is the foundation.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4846320"/>
            <a:ext cx="3154680" cy="173736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BEFORE: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4846320"/>
            <a:ext cx="315468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AFTER: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EXAMPLE (typical values):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Feature              | Business  | Consumer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tokenized_ratio     | 0.65-0.85 | 0.05-0.15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online_ratio        | 0.70-0.90 | 0.20-0.40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amount_mean         | 25,000+   | 3,000-8,000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amount_sum          | 2M+ KZT   | 200-500K KZT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n_unique_merchants  | 50-200    | 10-50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Huge gap! This is why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tokenized_ratio is #1 in importance.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Supplier Fingerprint — Vendor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Paradox 5 (NEW): Entrepreneur = 3-5 key suppliers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Spend per (card, merchant) pair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merchant_spend = df.groupby(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["card_number","merchant_id"]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)["transaction_amount_kzt"].sum().reset_index()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Top-3 supplier share of total spend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def _top3_share(g):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total = g["transaction_amount_kzt"].sum()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if total == 0: return 0.0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top3 = g.nlargest(3, "transaction_amount_kzt")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["transaction_amount_kzt"].sum()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return top3 / total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vendor_concentration = merchant_spend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.groupby("card_number")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.apply(_top3_share, include_groups=False)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Gini coefficient of concentration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def _gini(g):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amounts = g["transaction_amount_kzt"]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.sort_values().values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if len(amounts)==0 or amounts.sum()==0: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return 0.0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n = len(amounts)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cumsum = np.cumsum(amounts)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return (2*np.sum(cumsum)/cumsum[-1]-n-1)/n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merchant_gini = merchant_spend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.groupby("card_number")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.apply(_gini, include_groups=False)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400800" cy="34747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25880"/>
            <a:ext cx="61264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💡 IN SIMPLE TERMS: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IDEA: A consumer visits 100+ different places: grocery stores,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restaurants, clothing shops, Netflix... Money is 'spread thin'.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An entrepreneur buys from 3-5 key suppliers: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wholesale warehouse, logistics company, ad agency.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HOW WE CALCULATE: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vendor_concentration = spend on TOP-3 suppliers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                 / total card spend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If 80% of all money went to 3 suppliers → 0.8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→ entrepreneur (narrow circle)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If 20% → 0.2 → consumer (spread out)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Additionally: merchant_gini = Gini coefficient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0 = all spending evenly distributed,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 = everything to one merchant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4846320"/>
            <a:ext cx="3154680" cy="173736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BEFORE: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4846320"/>
            <a:ext cx="315468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AFTER: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EXAMPLE: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Business card (5200000001):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Supplier 1 (wholesale): 2,000,000 (40%)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Supplier 2 (logistics): 1,500,000 (30%)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Supplier 3 (ads):        500,000 (10%)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Others:                1,000,000 (20%)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vendor_concentration = (2M+1.5M+0.5M)/5M = 0.80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Consumer card (4100000001):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Top-3 = 150K out of 500K = 0.30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→ ordinary consumer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Last-Mile Echo — Wholesale to Logistics Lag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Paradox 6 (NEW): Buy goods → deliver within 0-7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Aggregate by day (12.8M → 300K rows)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daily_wholesale = df[df["mcc"].isin(WHOLESALE_PROD_MCCS)]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.groupby(["card_number","transaction_date"])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["transaction_amount_kzt"].sum().reset_index()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daily_logistics = df[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df["mcc"].isin(LOGISTICS_MCCS | FUEL_MCCS)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].groupby(["card_number","transaction_date"])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["transaction_amount_kzt"].sum().reset_index()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Dictionary: card → array of logistics dates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numpy.searchsorted — binary search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logistics_dates = {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cn: g["date"].values.astype("datetime64[D]")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for cn, g in daily_logistics.groupby("card_number",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                                 sort=False)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def _echo_avg(group):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cn = group.name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w_dates = group.loc[group["wholesale_amt"]&gt;0,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"date"].values.astype("datetime64[D]")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l_dates = logistics_dates.get(cn,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np.array([], dtype="datetime64[D]"))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if len(w_dates)==0 or len(l_dates)==0: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return 0.0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# searchsorted = find nearest logistics date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idx = np.searchsorted(l_dates, w_dates, side="left")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idx = np.clip(idx, 0, len(l_dates)-1)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lags = (l_dates[idx] - w_dates).astype(int)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valid = (lags &gt;= 0) &amp; (lags &lt;= 7)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return lags[valid].mean() if valid.sum()&gt;0 else 0.0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avg_echo_lag = daily_merged.groupby("card_number",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sort=False).apply(_echo_avg,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include_groups=False).rename("wholesale_to_logistics_lag")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400800" cy="34747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25880"/>
            <a:ext cx="61264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💡 IN SIMPLE TERMS: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IDEA: Entrepreneur buys goods → pays for delivery to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customer within 0-7 days. A consumer never does this.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HOW WE CALCULATE: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1) Aggregate transactions by DAY (not by hour)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2) For each card, find wholesale purchase days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3) For each wholesale day, find the NEXT logistics/fuel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transaction forward in time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4) Calculate average LAG (days) between wholesale and logistics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5) If lag is 0-7 days → this is Last-Mile Echo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TECHNICAL PROBLEM (important!):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pd.merge_asof with by=['card_number'] HANGS in pandas 3.0.3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Solution: numpy.searchsorted — 100x faster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Why day-level aggregation? 12.8M rows → 300K days.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40x less data = 40x faster processing.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4846320"/>
            <a:ext cx="3154680" cy="173736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BEFORE: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4846320"/>
            <a:ext cx="315468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AFTER: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EXAMPLE: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Card 5200000001 (business):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Day 1: wholesale 500,000 KZT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Day 3: logistics 45,000 KZT → lag=2 days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Day 15: wholesale 300,000 KZT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Day 18: fuel 12,000 KZT → lag=3 days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Average lag = (2+3)/2 = 2.5 days ✓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Card 4100000001 (consumer):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No wholesale purchases → lag = 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(filled with 168 hours = 1 week)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Round-Trip Cash Flow — Spending Burst Periodicity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Paradox 7 (NEW, REDEFINED): Purchase cycles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Daily spending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daily_spend = df.groupby(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["card_number","transaction_date"]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)["transaction_amount_kzt"].sum().reset_index()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def _burst_periodicity(g):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amounts = g["transaction_amount_kzt"]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if len(amounts) &lt; 5: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return np.nan  # not enough data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threshold = amounts.quantile(0.95)  # top 5%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burst_days = g[amounts &gt;= threshold]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["transaction_date"].sort_values()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if len(burst_days) &lt; 2: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return np.nan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intervals = burst_days.diff()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.dt.days.dropna()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if len(intervals) &lt; 2: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return np.nan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return float(intervals.std())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# Small std = regular purchases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spending_burst_periodicity = daily_spend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.groupby("card_number")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.apply(_burst_periodicity, include_groups=False)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.rename("spending_burst_periodicity")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400800" cy="34747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25880"/>
            <a:ext cx="61264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💡 IN SIMPLE TERMS: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IDEA (original): Detect money round-tripping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(paid → refunded → paid again).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PROBLEM: Our data has ONLY outflows (spending).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No refunds, no deposits, no incoming transactions.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The original paradox is IMPOSSIBLE to implement.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SOLUTION — REDEFINITION: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We look at the PERIODICITY of large spending.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An entrepreneur buys goods every month (spending burst).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A consumer spends large amounts chaotically (NYE, birthday).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HOW WE CALCULATE: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1) Group daily spending per card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2) Find days with spending in the TOP 5% (bursts)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3) Calculate intervals between these days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4) std of intervals — if small, spending is regular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Example: std=2 → bursts every month ±2 days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Example: std=45 → chaotic, once every 6 months-year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4846320"/>
            <a:ext cx="3154680" cy="173736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BEFORE: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4846320"/>
            <a:ext cx="315468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AFTER: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CALCULATION EXAMPLE: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Business card — daily spending: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Jan 1: 500,000 ← top 5%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Jan 5: 3,000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Jan 8: 600,000 ← top 5%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Jan 12: 2,000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Jan 15: 450,000 ← top 5%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...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Intervals: 7d, 7d, 7d...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std = 0.5 days → very regular!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Consumer card: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Bursts every 30-90 days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std = 45 days → chaotic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Inventory Pulse — Mass Purchase + Small Top-ups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Paradox 8 (NEW): Large restock + many small reorders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def _inventory_pulse(g):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# Take only wholesale transactions of the card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wholesale = g[g["mcc"].isin(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WHOLESALE_PROD_MCCS)]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if len(wholesale) &lt; 5: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return np.nan  # insufficient data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amounts = wholesale["transaction_amount_kzt"]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p30 = amounts.quantile(0.30)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p70 = amounts.quantile(0.70)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small = (amounts &lt;= p30).sum()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large = (amounts &gt;= p70).sum()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return small / large if large &gt; 0 else np.nan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massive_to_small_ratio = df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.groupby("card_number")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.apply(_inventory_pulse, include_groups=False)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.rename("massive_to_small_ratio")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400800" cy="34747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25880"/>
            <a:ext cx="61264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💡 IN SIMPLE TERMS: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IDEA: An entrepreneur buys a million worth of goods once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a month (massive), and between — small reorders of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consumables (small). A consumer does neither.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HOW WE CALCULATE: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1) Take only wholesale transactions of the card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2) Find P30 (30th percentile) and P70 (70th percentile)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3) small = count of transactions ≤ P30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4) large = count of transactions ≥ P70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5) ratio = small / large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If ratio = 3.0: for 1 large purchase there are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3 small top-ups → entrepreneur pattern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If ratio = 0.2: almost all transactions are large →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doesn't look like inventory management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IMPORTANT: need at least 5 wholesale transactions,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otherwise we can't draw conclusions. Return NaN.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4846320"/>
            <a:ext cx="3154680" cy="173736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BEFORE: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4846320"/>
            <a:ext cx="315468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AFTER: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EXAMPLE: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Business card — wholesale transactions: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1,000,000 (large), 50,000 (small), 30,000 (small),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800,000 (large), 40,000 (small), 20,000 (small),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1,200,000 (large), 60,000 (small)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P30 = 35,000, P70 = 900,000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small = 4, large = 3, ratio = 4/3 = 1.33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Consumer card — wholesale transactions: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5,000, 8,000, 12,000, 3,000, 6,000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All ≈ same size, ratio ≈ 1.0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→ not business (no 'bulk+topup' structure)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Multi-Vendor Loyalty Paradox — Volume without Loyalty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Paradox 9 (NEW): High B2B spend, NO recurring subscriptions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Total B2B MCC spend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b2b_spend = df[df["mcc"].isin(BUSINESS_MCCS)]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.groupby("card_number")["transaction_amount_kzt"].sum()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Recurring transaction share per card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recurring_ratio = df.groupby("card_number")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["is_recurring"].mean()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B2B volume without recurring (KEY feature)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b2b_volume_no_recurring = 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b2b_spend * (1 - recurring_ratio)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).rename("b2b_volume_no_recurring").fillna(0.0)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Avg transactions per merchant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txns_per_merchant = total_txns /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df.groupby("card_number")["merchant_id"].nunique()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400800" cy="34747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25880"/>
            <a:ext cx="61264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💡 IN SIMPLE TERMS: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IDEA (key): An entrepreneur spends heavily on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business services (ads, IT, wholesale, logistics), but does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NOT set up recurring subscriptions (Netflix, Spotify).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A consumer does the opposite — subscribed to everything.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FORMULA: b2b_volume_no_recurring =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(total B2B spend) × (1 − recurring share)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If entrepreneur spends 2M on business and 0% recurring: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score = 2M × (1−0) = 2,000,000 → HIGH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If consumer spends 50K on business and 30% recurring: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score = 50K × (1−0.3) = 35,000 → LOW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THIRD most important feature (12%)!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4846320"/>
            <a:ext cx="3154680" cy="173736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BEFORE: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4846320"/>
            <a:ext cx="315468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AFTER: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COMPARISON: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Business card: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B2B spend: 3,000,000 KZT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recurring_ratio: 0.02 (2%)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b2b_volume_no_recurring = 3M × 0.98 = 2,940,000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Works with suppliers, doesn't subscribe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Consumer card: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B2B spend: 50,000 KZT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recurring_ratio: 0.25 (25%)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b2b_volume_no_recurring = 50K × 0.75 = 37,500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(Netflix, Spotify subscriptions = recurring)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80x difference! → critical feature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Channel Schizophrenia — Channel Switching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Paradox 10 (NEW): Online ↔ POS constant switching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Sort by time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df_sorted = df.sort_values(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["card_number","transaction_timestamp"]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Shift channel by 1 position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df_sorted["prev_channel"] = df_sorted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.groupby("card_number")["channel"].shift(1)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Was there a channel change?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df_sorted["channel_switch"] = 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(df_sorted["channel"] != df_sorted["prev_channel"])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&amp; df_sorted["prev_channel"].notna()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Share of channel changes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channel_alternation_rate = df_sorted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.groupby("card_number")["channel_switch"]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.mean().rename("channel_alternation_rate")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Shannon entropy: 1 = 50/50 online/POS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def _entropy(g):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counts = g.value_counts()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probs = counts / counts.sum()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return float(-(probs*np.log2(probs+1e-10)).sum())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channel_entropy = df_sorted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.groupby("card_number")["channel"]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.apply(_entropy).rename("channel_entropy")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400800" cy="34747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25880"/>
            <a:ext cx="612648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💡 IN SIMPLE TERMS: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IDEA: An entrepreneur orders goods online (supplier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website), goes to the warehouse (POS terminal), orders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again online, goes to the gas station (POS). Constant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switching between online and POS.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A consumer usually sticks to one channel: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Some buy everything online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Some only in physical stores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HOW WE CALCULATE: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1) Sort transactions by time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2) For each, check: did the channel change?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3) channel_alternation_rate = share of channel changes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Example sequence: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online → POS → online → POS → online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4 changes out of 5 transactions = 0.8 (80%)→ entrepreneur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online → online → online → POS → POS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 change out of 5 = 0.2 (20%) → consumer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4846320"/>
            <a:ext cx="3154680" cy="173736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BEFORE: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4846320"/>
            <a:ext cx="315468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919472"/>
            <a:ext cx="2971800" cy="15910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AFTER: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EXAMPLE sequences: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Business (alternation_rate = 0.70):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ONLINE → POS → ONLINE → POS → ONLINE → POS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Constantly switching = ordering + shipping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Consumer (alternation_rate = 0.15):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ONLINE → ONLINE → ONLINE → ONLINE → POS → POS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Mostly online, occasional in-store visit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FOURTH most important feature (9.2%)!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Cross-border Sourcing — International SaaS/Ads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🌍 Paradox 11: Google Ads, AWS, Shopify — paid abroad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Fill merchant country if missing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df["merchant_country_filled"] = df[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"merchant_country"].fillna(df["country"])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Cross-border: merchant country ≠ card country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df["is_cross_border"] = 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df["merchant_country"] != df["country"]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 &amp; df["merchant_country"].notna()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SaaS/Ads + cross-border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df["is_cb_saas_ad"] = df["is_cross_border"] &amp;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df["mcc"].isin(SAAS_AD_MCCS)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Share of international transactions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cb_ratio = df.groupby("card_number")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["is_cross_border"].mean().rename("cb_ratio")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Share of SaaS/Ads that are international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cb_saas_ad_ratio = df[df["mcc"].isin(SAAS_AD_MCCS)]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.groupby("card_number")["is_cross_border"]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.mean().rename("cb_saas_ad_ratio")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Share of spend on international transactions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cb_spend = df[df["is_cross_border"]]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.groupby("card_number")["transaction_amount_kzt"].sum()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cb_spend_share = (cb_spend / total_spend)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.rename("cb_spend_share").fillna(0.0)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Count of international SaaS/Ads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cb_saas_ad_count = df[df["is_cb_saas_ad"]]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.groupby("card_number").size()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.rename("cb_saas_ad_count")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400800" cy="320040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25880"/>
            <a:ext cx="612648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🌍 IN SIMPLE TERMS: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IDEA: Entrepreneurs pay ABROAD for Google Ads,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Facebook Ads, AWS (cloud), Shopify (e-commerce), Zoom.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Consumers usually DON'T pay abroad — everything is local.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HOW WE DETECT: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Each transaction has a card country (e.g., KZ)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and a merchant country (from merchants_reference).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If KZ ≠ US → cross-border = True.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If the MCC is in SAAS_AD_MCCS → SaaS/Ads transaction.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EXAMPLE: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Card 4100000001: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Pays Google Ads (MCC=7311), merchant in USA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→ cb_saas_ad_count += 1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cb_spend_share = $500 / $50,000 = 0.01 (1%)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Card 5200000001 (business):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Google Ads + AWS + Shopify = $5,000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cb_spend_share = $5,000/$20,000 = 0.25 (25%)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4663440"/>
            <a:ext cx="3154680" cy="192024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4736592"/>
            <a:ext cx="2971800" cy="17739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BEFORE: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4663440"/>
            <a:ext cx="3154680" cy="192024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736592"/>
            <a:ext cx="2971800" cy="17739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AFTER: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COMPARISON: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Business: 15-40% of spending — international SaaS/Ads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Consumer: 0-2% of spending — international SaaS/Ads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cb_spend_share = 2.88% importance in the model!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Feature Assembly — 35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Combine all features, fill NaN, get 105K × 35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1. Get labels for each card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labels = df[["card_number","label"]]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.drop_duplicates("card_number")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.set_index("card_number")["label"]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2. Create feature matrix (index = card_number)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 = pd.DataFrame(index=labels.index)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3. Add all 35 features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features["clockwork_cv_mean"] = clockwork_cv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features["off_hours_ratio"] = off_hours_ratio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features["wholesale_spend_ratio"] = expense_ratio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features["token_wholesale_flag"] = token_flag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features["total_txns"] = total_txns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features["amount_mean"] = card_agg["amount_mean"]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features["online_ratio"] = card_agg["online_ratio"]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features["tokenized_ratio"] = card_agg["tokenized_ratio"]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features["vendor_concentration"] = vendor_concentration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features["wholesale_to_logistics_lag"] = avg_echo_lag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features["spending_burst_periodicity"] = burst_periodicity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features["massive_to_small_ratio"] = inventory_pulse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features["b2b_volume_no_recurring"] = b2b_volume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features["channel_alternation_rate"] = channel_alt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features["channel_entropy"] = channel_ent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features["cb_ratio"] = cb_ratio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... and so on for all 35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4. Fill NaN values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features["clockwork_cv_mean"] = features[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"clockwork_cv_mean"].fillna(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features["clockwork_cv_mean"].median())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features["off_hours_ratio"] = features[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"off_hours_ratio"].fillna(0.0)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... each feature has its own fill strategy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5. Drop remaining NaN rows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features = features.dropna()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print(f"Features: {features.shape[1]}")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print(f"Cards: {len(features):,}")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234440"/>
            <a:ext cx="640080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35 features — what's included: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📊 Clockwork (2):    cv_mean, mcc_count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📊 Off-Hours (3):    ratio, overall_ratio, total_count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📊 Expense (2):      wholesale_ratio, wholesale_log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📊 Token (2):        flag, count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📊 Baseline (10):    total_txns, amount_mean, amount_std,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                   amount_sum, amount_max, n_unique_mcc_log,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                   n_unique_mcc, n_unique_merchants,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                   online_ratio, tokenized_ratio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📊 Supplier (2):     vendor_concentration, merchant_gini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📊 Last-Mile (2):    lag, cross_ratio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📊 Round-Trip (1):   burst_periodicity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📊 Inventory (1):    massive_to_small_ratio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📊 Multi-Vendor (2): b2b_volume_no_recurring, txns_per_merchant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📊 Channel (2):      alternation_rate, entropy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📊 Cross-border (4): cb_ratio, cb_saas_ad_ratio,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                   cb_spend_share, cb_saas_ad_count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Total: 35 features for 105,000 cards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4023360"/>
            <a:ext cx="3163824" cy="246888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4096512"/>
            <a:ext cx="2980944" cy="23225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WE USE: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tokenized_ratio — most important (26.3%)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online_ratio (20.3%)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b2b_volume_no_recurring (12.0%)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channel_alternation_rate (9.2%)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All 10 paradoxes create synergy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Cross-border adds ~6%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0496" y="4023360"/>
            <a:ext cx="3163824" cy="2468880"/>
          </a:xfrm>
          <a:prstGeom prst="rect">
            <a:avLst/>
          </a:prstGeom>
          <a:solidFill>
            <a:srgbClr val="FFEBEE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31936" y="4096512"/>
            <a:ext cx="2980944" cy="23225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❌ WE DON'T USE: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❌ card_tier: consumer has no 'Business' tier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❌ bank_name: identical distribution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❌ recurring_capable: only 27/2165 merchants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❌ merchant_name: MCC already covers it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35 features are enough for AUC=1.0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CatBoost — Model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Why CatBoost, parameters, early stopping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── 80/20 Stratified Split ──────────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X_train, X_test, y_train, y_test = \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train_test_split(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features.values,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labels.values,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test_size=0.2,      # 20% for testing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random_state=42,     # reproducibility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stratify=labels.values,  # preserve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                             # class ratio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print(f"Train: {len(X_train):,}")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print(f"Test:  {len(X_test):,}")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── CatBoost ─────────────────────────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model = CatBoostClassifier(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iterations=500,          # max iterations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learning_rate=0.1,       # learning step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depth=6,                 # tree depth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loss_function="Logloss", # binary classification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eval_metric="AUC",       # what we optimize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auto_class_weights=      # class balance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"Balanced",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early_stopping_rounds=50,# stop if AUC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verbose=50,              # doesn't improve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random_seed=42,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task_type="CPU",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allow_writing_files=False,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model.fit(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X_train, y_train,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eval_set=(X_test, y_test),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use_best_model=True,  # take the best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                         # iteration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400800" cy="21031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25880"/>
            <a:ext cx="6126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🤖 IN SIMPLE TERMS: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WHY CATBOOST instead of XGBoost/LightGBM?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1) CatBoost — best AUC on tabular data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2) Ordered Boosting — less overfitting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3) Symmetric Trees — faster inference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4) auto_class_weights='Balanced' — automatically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compensates for class imbalance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WHAT EACH PARAMETER MEANS: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iterations=500: model can make up to 500 steps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learning_rate=0.1: each step is small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early_stopping_rounds=50: if for 50 consecutive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steps AUC doesn't improve → stop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eval_metric='AUC': optimize what we evaluate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random_seed=42: same result every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run (reproducibility)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3566160"/>
            <a:ext cx="6400800" cy="3017520"/>
          </a:xfrm>
          <a:prstGeom prst="rect">
            <a:avLst/>
          </a:prstGeom>
          <a:solidFill>
            <a:srgbClr val="FFF8E1"/>
          </a:solidFill>
          <a:ln w="12700">
            <a:solidFill>
              <a:srgbClr val="F3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3639312"/>
            <a:ext cx="6217920" cy="28712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🧮 CALCULATION WALKTHROUGH: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TRAINING PROGRESS: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Iteration   0: test AUC = 0.9965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Iteration  50: test AUC = 0.999998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Iteration 100: test AUC = 0.999999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Stopped at iteration 121 (out of 500)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→ Test AUC = 0.999999 ≈ 1.0000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Train: 84,000 cards | Test: 21,000 cards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WHY DID IT STOP EARLY?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The model reached maximum performance in 121 steps.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Further training could lead to overfitting.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Early stopping protects against this.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use_best_model=True → take iteration 121,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not iteration 500 (which might be worse on test).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5-Fold 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Is the model stable on ANY data split?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75488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453542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CV model (fewer iterations —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trains 5 times!)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cv_model = CatBoostClassifier(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iterations=200,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learning_rate=0.1,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depth=6,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loss_function="Logloss",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eval_metric="AUC",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auto_class_weights="Balanced",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random_seed=42,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task_type="CPU",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allow_writing_files=False,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verbose=0,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Pool — CatBoost data format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cv_pool = Pool(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features.values,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labels.values,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feature_names=feature_names,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5-Fold Stratified Cross-Validation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cv_results = catboost_cv(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cv_pool,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cv_model.get_params(),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fold_count=5,         # 5 splits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stratified=True,       # preserve class ratio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early_stopping_rounds=30,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verbose_eval=False,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print(f"CV AUC mean: "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f"{cv_results['test-AUC-mean'].iloc[-1]:.4f}")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print(f"CV AUC std:  "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f"{cv_results['test-AUC-std'].iloc[-1]:.4f}")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234440"/>
            <a:ext cx="6400800" cy="1828800"/>
          </a:xfrm>
          <a:prstGeom prst="rect">
            <a:avLst/>
          </a:prstGeom>
          <a:solidFill>
            <a:srgbClr val="E3F2FD"/>
          </a:solidFill>
          <a:ln w="12700">
            <a:solidFill>
              <a:srgbClr val="005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325880"/>
            <a:ext cx="61264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🔬 IN SIMPLE TERMS: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WHAT IS CROSS-VALIDATION (simple terms):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Instead of 1 test, we do 5 tests.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Each time 80% of data → training, 20% → testing.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But each time, the 20% is DIFFERENT.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If the model shows high AUC ALL 5 TIMES —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it didn't get lucky with one random split,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it ACTUALLY works well.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Stratification: each fold preserves the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76% consumer / 24% business ratio.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3291840"/>
            <a:ext cx="6400800" cy="3291840"/>
          </a:xfrm>
          <a:prstGeom prst="rect">
            <a:avLst/>
          </a:prstGeom>
          <a:solidFill>
            <a:srgbClr val="FFF8E1"/>
          </a:solidFill>
          <a:ln w="12700">
            <a:solidFill>
              <a:srgbClr val="F3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3364992"/>
            <a:ext cx="6217920" cy="31455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🧮 CALCULATION WALKTHROUGH: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5-FOLD CV RESULTS: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Fold 0: AUC = 0.999999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Fold 1: AUC = 0.999998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Fold 2: AUC = 0.999999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Fold 3: AUC = 0.999998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Fold 4: AUC = 0.999999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Mean AUC:  1.0000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Std Dev:   0.0000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WHAT THIS MEANS: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• Model is stable on ANY data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• No dependence on random split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• AUC=1.0 is NOT overfitting (confirmed 5x)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⚠️ If it were overfitting, CV AUC would be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SIGNIFICANTLY lower than test AUC (e.g.,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0.95 vs 1.0). Here they're identical — honest.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RESULTS — AUC-ROC and 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Key metrics: where numbers come from and what they mean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11480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389534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# Predictions on test set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y_pred = model.predict(X_test)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y_proba = model.predict_proba(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    X_test)[:, 1]  # probabilities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# PRIMARY: AUC-ROC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auc = roc_auc_score(y_test, y_proba)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print(f"AUC-ROC: {auc:.4f}")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# SECONDARY: Confusion Matrix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cm = confusion_matrix(y_test, y_pred)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print(f"TN={cm[0,0]} FP={cm[0,1]}")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print(f"FN={cm[1,0]} TP={cm[1,1]}")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# Visualization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ConfusionMatrixDisplay.from_estimator(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    model, X_test, y_test,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    display_labels=["Consumer","Business"],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    cmap="Blues",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plt.savefig("confusion_matrix.png", dpi=150)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234440"/>
            <a:ext cx="365760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📊 AUC-ROC = 1.0000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This is a PERFECT result.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The model ALWAYS ranks a business card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HIGHER than a consumer card by probability.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What it looks like in numbers: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Out of 21,000 test cards: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          Pred 0    Pred 1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Actual 0    15996         4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Actual 1        5      4995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Only 9 errors out of 21,000!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4 false positives: consumer→business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5 false negatives: business→consumer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Precision/Recall/F1 = 1.00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Accuracy = 1.00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⚠️ BUT! Accuracy = 1.00 is NOT because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we classified everyone as consumer.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It's because the model actually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separates the classes perfectly.</a:t>
            </a:r>
          </a:p>
        </p:txBody>
      </p:sp>
      <p:pic>
        <p:nvPicPr>
          <p:cNvPr id="10" name="Picture 9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234440"/>
            <a:ext cx="3383280" cy="28346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503920" y="4206240"/>
            <a:ext cx="3383280" cy="237744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4297680"/>
            <a:ext cx="310896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🎯 IN SIMPLE TERMS: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WHERE DOES AUC=1.0 COME FROM?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(not overfitting!)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1) 35 engineered features — strong signal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2) tokenized_ratio 26%: business 60-80%,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consumer 5-10% — huge gap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3) 5-Fold CV gives the same 1.0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4) Early stopping — protection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5) SHAP explains logical patterns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Feature Importance — which features matter most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Top-15 features, their weight, and what they mean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5943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914400"/>
                <a:gridCol w="2468880"/>
              </a:tblGrid>
              <a:tr h="2971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 it means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tokenized_ratio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26.29%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Business → lots of tokens. Consumer → rarely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online_ratio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20.34%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Business → online. Consumer → in store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b2b_volume_no_recurring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Business spends without subscriptions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channel_alternation_rate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9.23%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Business switches channels often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vendor_concentration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Business → 3-5 key suppliers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wholesale_spend_ratio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3.08%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Business → more wholesale than self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cb_spend_share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Business pays abroad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txns_per_merchant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2.59%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Business → many txns per merchant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total_txns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Business has more total transactions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amount_sum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2.46%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Business spends more total money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cb_saas_ad_count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Count of international SaaS/Ads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channel_entropy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1.85%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Channel entropy (0=1 channel, 1=50/50)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n_unique_merchants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How many different stores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n_unique_mcc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1.18%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How many different MCC categories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merchant_gini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Concentration (0=even, 1=one merchant)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80160"/>
            <a:ext cx="51206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SHAP — explaining every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Why did the model decide that THIS card is business?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94360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SHAP (SHapley Additive exPlanations) — a method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that answers the question: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'Why did the model say THIS card is business?'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Idea from game theory: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Each feature = 'player'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The prediction = 'team's win'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SHAP value = each player's contribution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📊 SHAP Summary Plot (left):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1 dot = 1 card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Color: red = high feature value,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blue = low feature value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X-axis: SHAP value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Positive → pushes toward business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Negative → pushes toward consumer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📊 SHAP Bar Plot (right):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Mean ABSOLUTE SHAP value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Shows GLOBAL feature importance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WHAT WE SEE ON THE GRAPHS: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tokenized_ratio: red on right →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high tokenized_ratio → business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channel_alternation_rate: green on right →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frequent channel switching → business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• This PROVES the model learns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logical patterns, not noise</a:t>
            </a:r>
          </a:p>
        </p:txBody>
      </p:sp>
      <p:pic>
        <p:nvPicPr>
          <p:cNvPr id="8" name="Picture 7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34440"/>
            <a:ext cx="2560320" cy="5029200"/>
          </a:xfrm>
          <a:prstGeom prst="rect">
            <a:avLst/>
          </a:prstGeom>
        </p:spPr>
      </p:pic>
      <p:pic>
        <p:nvPicPr>
          <p:cNvPr id="9" name="Picture 8" descr="shap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234440"/>
            <a:ext cx="25603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Top-100 Hidden Entrepreneurs + Target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Ranked list of hidden entrepreneurs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11480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389534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Take ONLY consumer cards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consumer_mask = labels == 0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consumer_feat = features.loc[consumer_mask]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consumer_cards = consumer_feat.index.values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Predict business probability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consumer_probas = model.predict_proba(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consumer_feat.values)[:, 1]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Take top 100 by probability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top100_idx = np.argsort(consumer_probas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)[-100:][::-1]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top100_cards = consumer_cards[top100_idx]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top100_scores = consumer_probas[top100_idx]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Product logic: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1) wholesale_spend_ratio &gt; median → B2B Cashback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2) clockwork_cv_mean &gt; median → Working Capital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3) channel_alternation_rate &gt; median → Merchant Acct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4) otherwise → Business Credit Card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products = []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for i in range(100):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if top100_ws.iloc[i] &gt; ws_th: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products.append("B2B Cashback")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elif top100_cv.iloc[i] &gt; cv_th: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products.append("Working Capital Loan")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elif top100_sch.iloc[i] &gt; sch_th: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products.append("Merchant Account")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else: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    products.append("Business Credit Card")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top100_df["recommended_product"] = products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top100_df.to_csv(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"top100_hidden_entrepreneurs.csv",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index=False)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234440"/>
            <a:ext cx="365760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HOW WE FOUND 100 HIDDEN ENTREPRENEURS: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1) Took 80,000 consumer cards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2) Model predicted business probability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 for each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3) Sorted descending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4) Took top 100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Score distribution: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P0: 0.0000    P50: 0.0000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P90: 0.0002   P95: 0.0006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P99: 0.0085   P100: 0.9467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Cards with prob&gt;0.5: 22 of 80,000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Only 0.03% of consumer cards look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like business! Very strict selection.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PRODUCT RECOMMENDATION: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• B2B Cashback (72%) — for wholesalers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• Business Credit Card (24%) — general</a:t>
            </a:r>
          </a:p>
          <a:p>
            <a:pPr algn="l">
              <a:lnSpc>
                <a:spcPts val="13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• Working Capital Loan (4%) — regular buyers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234440"/>
            <a:ext cx="3383280" cy="2743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1325880"/>
            <a:ext cx="310896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🏆 IN SIMPLE TERMS: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EXAMPLE: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Card 5211559664892162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Business prob: 0.947 (95%)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→ B2B Cashback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(high wholesale ratio)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Card 5119023403360653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Business prob: 0.713 (71%)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→ Business Credit Card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(not enough wholesale for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Cashback, but business exists)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503920" y="4206240"/>
          <a:ext cx="33832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731520"/>
                <a:gridCol w="457200"/>
                <a:gridCol w="1280160"/>
              </a:tblGrid>
              <a:tr h="2161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Card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Prob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002B5B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5211559664892162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0.947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B2B Cashback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5176515772256834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0.929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B2B Cashback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5201491354169846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0.863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B2B Cashback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5100616099198674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0.828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B2B Cashback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5486732133818591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0.816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B2B Cashback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5188841497474379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0.801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B2B Cashback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5176476691114937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0.726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B2B Cashback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5176517232027573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0.722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B2B Cashback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5119023403360653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0.713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Business Credit 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14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5402339951548606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0.670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</a:defRPr>
                      </a:pPr>
                      <a:r>
                        <a:t>B2B Cashback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Which columns we DON'T use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Detailed analysis of every skipped column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47472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325526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Columns we do NOT read: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From business/consumer cards: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  - bank_name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  - card_tier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From merchants_reference: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  - recurring_capable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  - merchant_name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Proof: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bank_name — almost identical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distribution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biz = pd.read_parquet(..., columns=[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"bank_name","card_tier"])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biz["label"]=1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con = pd.read_parquet(..., columns=[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    "bank_name","card_tier"])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con["label"]=0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card_tier: business=100% Business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con=Standard/Affluent/Premium</a:t>
            </a:r>
          </a:p>
          <a:p>
            <a:pPr>
              <a:lnSpc>
                <a:spcPts val="910"/>
              </a:lnSpc>
              <a:defRPr sz="700">
                <a:solidFill>
                  <a:srgbClr val="CDD9E0"/>
                </a:solidFill>
                <a:latin typeface="Consolas"/>
              </a:defRPr>
            </a:pPr>
            <a:r>
              <a:t># NO OVERLAP!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234440"/>
            <a:ext cx="1929384" cy="22860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307592"/>
            <a:ext cx="1746504" cy="21396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WE USE: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tokenized_ratio (26.3%)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Distinguishes business from consumer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online_ratio (20.3%)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b2b_volume_no_recurring (12%)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B2B spending without subscriptions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channel_alternation_rate (9.2%)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25896" y="1234440"/>
            <a:ext cx="1929384" cy="2286000"/>
          </a:xfrm>
          <a:prstGeom prst="rect">
            <a:avLst/>
          </a:prstGeom>
          <a:solidFill>
            <a:srgbClr val="FFEBEE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17336" y="1307592"/>
            <a:ext cx="1746504" cy="21396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❌ WE DON'T USE: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❌ card_tier (useless):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Business = 100% 'Business'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Consumer = 74.5% Standard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          21% Affluent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          4.5% Premium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NO consumer has 'Business' tier!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→ cannot find hidden entrepreneurs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3749039"/>
            <a:ext cx="1929384" cy="2743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3822191"/>
            <a:ext cx="1746504" cy="2596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WE USE: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SAAS_AD_MCCS covers: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Google Ads, AWS, Shopify,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Zoom, Slack — all MCCs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already in our dictionary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cross-border uses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merchant_country (from the same table)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25896" y="3749039"/>
            <a:ext cx="1929384" cy="2743200"/>
          </a:xfrm>
          <a:prstGeom prst="rect">
            <a:avLst/>
          </a:prstGeom>
          <a:solidFill>
            <a:srgbClr val="FFEBEE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17336" y="3822191"/>
            <a:ext cx="1746504" cy="2596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❌ WE DON'T USE: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❌ recurring_capable (1.25%):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Only 27/2165 merchants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have recurring_capable=True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MCC: 7311 (Ads), 7372 (IT),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5968 (Subs), 4816 (Network)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→ already in SAAS_AD_MCCS!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❌ merchant_name: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Nice to have, but MCC already encodes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the category. NLP not needed.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234440"/>
            <a:ext cx="1792224" cy="22860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307592"/>
            <a:ext cx="1609344" cy="21396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WE USE: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✅ baseline features: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amount_sum, amount_mean,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total_txns — indirectly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reflect 'wealth level'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94976" y="1234440"/>
            <a:ext cx="1792224" cy="2286000"/>
          </a:xfrm>
          <a:prstGeom prst="rect">
            <a:avLst/>
          </a:prstGeom>
          <a:solidFill>
            <a:srgbClr val="FFEBEE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86416" y="1307592"/>
            <a:ext cx="1609344" cy="21396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❌ WE DON'T USE: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❌ bank_name (useless):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Business top5: Kaspi 31.7%,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  Halyk 23.7%, Forte 8.9%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Consumer top5: Kaspi 32.0%,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  Halyk 23.8%, Forte 9.1%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Distribution is IDENTICAL!</a:t>
            </a:r>
          </a:p>
          <a:p>
            <a:pPr algn="l">
              <a:lnSpc>
                <a:spcPts val="1100"/>
              </a:lnSpc>
              <a:defRPr sz="1000">
                <a:solidFill>
                  <a:srgbClr val="333333"/>
                </a:solidFill>
                <a:latin typeface="Calibri"/>
              </a:defRPr>
            </a:pPr>
            <a:r>
              <a:t>  → no signal at 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749039"/>
            <a:ext cx="3657600" cy="2743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3840479"/>
            <a:ext cx="338328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✅ IN SIMPLE TERMS: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CONCLUSION: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Out of 16 columns in raw data,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we DON'T use only 4.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All 4 have been tested and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add NO additional signal.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Our 35 features contain ALL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useful information from the data.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AUC=1.0 is the best proof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that we have enough features.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Technical Problems and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What went wrong and how we fixed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48640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🔴 PROBLEM 1: pandas merge_asof (bug in pandas 3.0.3)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Tried: pd.merge_asof with by=['card_number']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→ HANGS INDEFINITELY (library bug)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Solution: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1. Aggregate to day level (12.8M → 300K)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2. Dictionary card → np.array of logistics dates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3. np.searchsorted — binary search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4. Runs in seconds, not minutes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🟠 PROBLEM 2: Round-Trip Cash Flow — no incoming data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Original: detect money round-tripping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(payment→refund→payment again).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Problem: our data has ONLY outflows (spending).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No refunds, no deposits.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Solution: redefined as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'spending_burst_periodicity' — periodicity of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spending bursts. std of intervals between top 5%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spending days. Small std = regular restocking.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🟡 PROBLEM 3: pandas 3.0.3 API changes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• .apply(..., include_groups=False) — new required param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(without it: warnings/errors)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• .groupby().diff() — use dt.total_seconds()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instead of dt.days (more precise for hours)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• Code had to be adapted to new API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🟢 PROBLEM 4: 12.8M rows — how to avoid memory issues?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• Feature engineering via groupby aggregations,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  NOT element-wise loops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• Delete intermediate data (del)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• Supplier Fingerprint: head(3) + groupby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• Last-Mile Echo: only daily level</a:t>
            </a:r>
          </a:p>
          <a:p>
            <a:pPr algn="l">
              <a:lnSpc>
                <a:spcPts val="12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• Result: ~2 GB RAM, ~30 minutes on CPU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486400" cy="5303520"/>
          </a:xfrm>
          <a:prstGeom prst="rect">
            <a:avLst/>
          </a:prstGeom>
          <a:solidFill>
            <a:srgbClr val="FFF8E1"/>
          </a:solidFill>
          <a:ln w="12700">
            <a:solidFill>
              <a:srgbClr val="F3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371600"/>
            <a:ext cx="5212080" cy="5120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💡 IN SIMPLE TERMS: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LESSONS LEARNED: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1) Don't trust libraries blindly: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merge_asof in pandas 3.0.3 is broken.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Always have a fallback (searchsorted).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2) Adapt paradoxes to your data: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Round-Trip Cash Flow requires refunds —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they don't exist → redefine. This is OK.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What matters is the IDEA (periodicity),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not the name.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3) Optimization is key for big data: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12.8M rows → day-level aggregation → 300K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→ 40x speedup.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numpy is always faster than pandas for numbers.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4) Always check new APIs: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include_groups=False is mandatory in pandas 3.x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for groupby.apply. Without it — error.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5) Use %pip install in the notebook: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This is a jury requirement (5% for reproducibility).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Without it, the notebook won't run for the evaluator.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Why AUC = 1.0 is NOT overfitting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5 proofs that the model actually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PROOF 1: 5-Fold Cross-Validation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The model was trained 5 times on different 80% of data.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Each time AUC = 0.999998-0.999999 on the unseen 20%.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If it were overfitting → CV AUC would be &lt; test AUC.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PROOF 2: Early Stopping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The model stopped at iteration 121 out of 500.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If it were overfitting → test AUC would start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decreasing after N iterations. Instead, it stayed stable.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PROOF 3: 35 engineered features — strong signal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tokenized_ratio: business 60-80% vs consumer 5-10%.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A 10x difference! This is a real pattern, not noise.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All 10 paradoxes are theoretically justified patterns.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PROOF 4: Probability distribution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Out of 80,000 consumer cards: 99% have prob &lt; 0.01.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Only 22 cards with prob &gt; 0.5. The model is CONFIDENT.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If it were overfitting — probabilities would be 'smeared'.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PROOF 5: SHAP explanations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SHAP summary plot shows LOGICAL patterns: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tokenized_ratio HIGH → red on right → business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tokenized_ratio LOW → blue on left → consumer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channel_alternation_rate HIGH → business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The model uses features meaningfully, not memorizing noise.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CONCLUSION: AUC=1.0 is REAL. The model truly distinguishes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business from consumer. 35 features provide enough signal</a:t>
            </a:r>
          </a:p>
          <a:p>
            <a:pPr algn="l">
              <a:lnSpc>
                <a:spcPts val="15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for perfect class separation.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Project Structure — files and their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What we created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11480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07592"/>
            <a:ext cx="3895344" cy="5157216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mqd_classifier.py/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├─ 1. LOAD DATA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Read 3 parquet files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├─ 2. LABEL &amp; CONCAT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biz["label"]=1, con["label"]=0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pd.concat + merge merchants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├─ 3. MCC CATEGORIES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5 MCC code dictionaries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├─ 4. FEATURE ENGINEERING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├─ 5a Clockwork Buyer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├─ 5b Off-Hours Operator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├─ 5c Expense Ratio Inversion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├─ 5d Token Wholesale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├─ 5e Baseline Aggregations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├─ 5f Supplier Fingerprint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├─ 5g Last-Mile Echo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├─ 5h Round-Trip CF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├─ 5i Inventory Pulse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├─ 5j Multi-Vendor Loyalty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├─ 5k Channel Schizophrenia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  └─ 5l Cross-border Sourcing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│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├─ 5. ASSEMBLE (35 features)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├─ 6. TRAIN/TEST SPLIT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├─ 7. TRAIN CATBOOST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├─ 8. CROSS-VALIDATION (5-fold)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├─ 9. EVALUATION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├─ 10. FEATURE IMPORTANCE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├─ 11. TOP-100 + TARGET PRODUCT</a:t>
            </a:r>
          </a:p>
          <a:p>
            <a:pPr>
              <a:lnSpc>
                <a:spcPts val="1040"/>
              </a:lnSpc>
              <a:defRPr sz="800">
                <a:solidFill>
                  <a:srgbClr val="CDD9E0"/>
                </a:solidFill>
                <a:latin typeface="Consolas"/>
              </a:defRPr>
            </a:pPr>
            <a:r>
              <a:t>└─ 12. SAVE OUTPUTS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234440"/>
            <a:ext cx="731520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📁 Project files: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1. mqd_classifier.py (816 lines)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• Main script — from loading to top-100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• Run: python mqd_classifier.py (~30-60 min)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2. MQD_2026_Hidden_Entrepreneurs.ipynb (56 cells)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• Jupyter notebook for jury submission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• 29 markdown + 27 code cells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• %pip install for reproducibility (5%)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• All graphs inline (IPython.display.Image)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3. confusion_matrix.png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• Confusion matrix visualization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4. feature_importance.png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• Top-15 features by importance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5. shap_summary.png / shap_bar.png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• SHAP explanations (if SHAP is installed)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6. top100_hidden_entrepreneurs.csv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• 100 hidden entrepreneurs + product recommendation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7. *.parquet (data, not in repo)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• business_cards_MDQ.parquet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• consumer_cards_MDQ.parquet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• merchants_reference.parquet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8. Presentation (.pptx)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• This presentation (30+ slides)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defRPr sz="1400" b="0">
                <a:solidFill>
                  <a:srgbClr val="F5A623"/>
                </a:solidFill>
                <a:latin typeface="Calibri"/>
              </a:defRPr>
            </a:pPr>
            <a:r>
              <a:t>What we achieved and what's important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✅ KEY RESULTS: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📊 AUC-ROC: 1.0000 (primary metric)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📊 5-Fold CV AUC: 1.0000 ± 0.0000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📊 Confusion Matrix: 9 errors out of 21,000 (0.04%)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📊 80,000 consumer cards → 22 with prob &gt; 0.5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📊 100 hidden entrepreneurs found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📊 Each has a recommended product (Cashback, Loan, Account, Card)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✅ TOP FEATURES (TOP-4 = 68% of importance):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1. tokenized_ratio (26.3%) — tokenized payments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2. online_ratio (20.3%) — online vs POS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3. b2b_volume_no_recurring (12.0%) — B2B without subscriptions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4. channel_alternation_rate (9.2%) — channel switching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✅ 10 PARADOXES + CROSS-BORDER = 35 FEATURES: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All 10 paradoxes implemented and contribute to the model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4 cross-border features add ~6% importance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Baseline features (tokenized_ratio, online_ratio) turned out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 to be MORE important than paradoxes — but paradoxes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  explain WHY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✅ PRODUCTS FOR TOP-100: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B2B Cashback: 72% (high wholesale_spend_ratio)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Business Credit Card: 24% (basic product)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Working Capital Loan: 4% (regular purchasing)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✅ TECHNICAL ACHIEVEMENTS: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Bypassed pandas merge_asof bug using searchsorted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Redefined Round-Trip for available data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All 10 paradoxes + 4 cross-border features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Full reproducibility (seed=42, requirements, %pip)</a:t>
            </a:r>
          </a:p>
          <a:p>
            <a:pPr algn="l">
              <a:lnSpc>
                <a:spcPts val="1400"/>
              </a:lnSpc>
              <a:defRPr sz="1200">
                <a:solidFill>
                  <a:srgbClr val="333333"/>
                </a:solidFill>
                <a:latin typeface="Calibri"/>
              </a:defRPr>
            </a:pPr>
            <a:r>
              <a:t>  • 35 features for 105,000 cards, AUC=1.0 without overfitting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4600"/>
              </a:lnSpc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Thank you for your attention!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000"/>
              </a:lnSpc>
              <a:defRPr sz="1800" b="0">
                <a:solidFill>
                  <a:srgbClr val="F5A623"/>
                </a:solidFill>
                <a:latin typeface="Calibri"/>
              </a:defRPr>
            </a:pPr>
            <a:r>
              <a:t>Mastercard Data Quest 2026 — Hidden Entrepreneur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600"/>
              </a:lnSpc>
              <a:defRPr sz="1400" b="0">
                <a:solidFill>
                  <a:srgbClr val="BBCCDD"/>
                </a:solidFill>
                <a:latin typeface="Calibri"/>
              </a:defRPr>
            </a:pPr>
            <a:r>
              <a:t>Genius Level • 10 Behavioral Paradoxes • Cross-border Sourcing • AUC-ROC • Target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3200"/>
              </a:lnSpc>
              <a:defRPr sz="2800" b="1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